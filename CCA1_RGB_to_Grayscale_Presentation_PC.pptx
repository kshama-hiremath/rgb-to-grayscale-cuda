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BEB0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4F7FC"/>
                </a:solidFill>
                <a:latin typeface="Aptos"/>
              </a:defRPr>
            </a:pPr>
            <a:r>
              <a:t>RGB TO GRAYSCALE</a:t>
            </a:r>
            <a:br/>
            <a:r>
              <a:t>USING CUDA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8A7FF"/>
                </a:solidFill>
                <a:latin typeface="Aptos"/>
              </a:defRPr>
            </a:pPr>
            <a:r>
              <a:t>GPU-parallel image-processing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154680" cy="914400"/>
          </a:xfrm>
          <a:prstGeom prst="roundRect">
            <a:avLst/>
          </a:prstGeom>
          <a:solidFill>
            <a:srgbClr val="172236"/>
          </a:solidFill>
          <a:ln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4407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BEB0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7FC"/>
                </a:solidFill>
                <a:latin typeface="Aptos"/>
              </a:defRPr>
            </a:pPr>
            <a:r>
              <a:t>RGB pixels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4251960"/>
            <a:ext cx="3154680" cy="914400"/>
          </a:xfrm>
          <a:prstGeom prst="roundRect">
            <a:avLst/>
          </a:prstGeom>
          <a:solidFill>
            <a:srgbClr val="172236"/>
          </a:solidFill>
          <a:ln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4407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BEB0"/>
                </a:solidFill>
                <a:latin typeface="Aptos"/>
              </a:defRPr>
            </a:pPr>
            <a:r>
              <a:t>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7FC"/>
                </a:solidFill>
                <a:latin typeface="Aptos"/>
              </a:defRPr>
            </a:pPr>
            <a:r>
              <a:t>CUDA threads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251960"/>
            <a:ext cx="3154680" cy="914400"/>
          </a:xfrm>
          <a:prstGeom prst="roundRect">
            <a:avLst/>
          </a:prstGeom>
          <a:solidFill>
            <a:srgbClr val="172236"/>
          </a:solidFill>
          <a:ln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4407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BEB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709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F7FC"/>
                </a:solidFill>
                <a:latin typeface="Aptos"/>
              </a:defRPr>
            </a:pPr>
            <a:r>
              <a:t>Grayscale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715000"/>
            <a:ext cx="102412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AB9CC"/>
                </a:solidFill>
                <a:latin typeface="Aptos"/>
              </a:defRPr>
            </a:pPr>
            <a:r>
              <a:rPr dirty="0"/>
              <a:t>Kshama </a:t>
            </a:r>
            <a:r>
              <a:rPr dirty="0" err="1"/>
              <a:t>Shrikantayya</a:t>
            </a:r>
            <a:r>
              <a:rPr dirty="0"/>
              <a:t> Hiremath  |  USN: 1BY23</a:t>
            </a:r>
            <a:r>
              <a:rPr lang="en-IN" dirty="0"/>
              <a:t>IS097</a:t>
            </a:r>
            <a:br>
              <a:rPr dirty="0"/>
            </a:br>
            <a:r>
              <a:rPr dirty="0"/>
              <a:t>BMS Institute of Technology and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A colour pixel stores three channels: Red, Green and Blue (RGB).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Grayscale conversion replaces each RGB triplet with one intensity value.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A CPU loop processes pixels sequentially; independent pixels can be handled in parallel.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CUDA lets many GPU threads perform the same operation on different pixels.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02 •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Implement RGB-to-grayscale conversion with a CUDA C++ kernel.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Map one CUDA thread to one pixel using a global thread index.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Use host/device memory transfers and a GPU kernel launch.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Compare GPU output against a CPU reference implementation.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Measure end-to-end time across multiple input sizes.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03 • CORE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Grayscale conversion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6BEB0"/>
                </a:solidFill>
                <a:latin typeface="Aptos"/>
              </a:defRPr>
            </a:pPr>
            <a:r>
              <a:t>Gray = 0.299R + 0.587G + 0.114B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14600"/>
            <a:ext cx="9875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R, G and B are channel values in the range 0–255.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The weighted formula gives more contribution to green than blue.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The computed value is rounded and stored as an 8-bit intensity.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Example: pure red (255, 0, 0) produces approximately 76.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04 • PARALLEL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Why CUDA for this problem?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Each output pixel depends only on its corresponding input RGB values.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This independence makes the workload suitable for data parallelism.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One thread computes one pixel; blocks collectively cover the input.</a:t>
            </a:r>
          </a:p>
          <a:p>
            <a:pPr>
              <a:spcAft>
                <a:spcPts val="1500"/>
              </a:spcAft>
              <a:defRPr sz="2100">
                <a:solidFill>
                  <a:srgbClr val="F4F7FC"/>
                </a:solidFill>
                <a:latin typeface="Aptos"/>
              </a:defRPr>
            </a:pPr>
            <a:r>
              <a:t>•  GPU performance depends on workload size, launch overhead and data transfer.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05 • MAPPING WORK TO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CUDA 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423160" cy="1828800"/>
          </a:xfrm>
          <a:prstGeom prst="roundRect">
            <a:avLst/>
          </a:prstGeom>
          <a:solidFill>
            <a:srgbClr val="172236"/>
          </a:solidFill>
          <a:ln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BEB0"/>
                </a:solidFill>
                <a:latin typeface="Aptos"/>
              </a:defRPr>
            </a:pPr>
            <a:r>
              <a:t>HOST / CPU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4F7FC"/>
                </a:solidFill>
                <a:latin typeface="Aptos"/>
              </a:defRPr>
            </a:pPr>
            <a:r>
              <a:t>Creates input and allocates host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8A7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965960"/>
            <a:ext cx="2423160" cy="1828800"/>
          </a:xfrm>
          <a:prstGeom prst="roundRect">
            <a:avLst/>
          </a:prstGeom>
          <a:solidFill>
            <a:srgbClr val="172236"/>
          </a:solidFill>
          <a:ln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30752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BEB0"/>
                </a:solidFill>
                <a:latin typeface="Aptos"/>
              </a:defRPr>
            </a:pPr>
            <a:r>
              <a:t>COPY TO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4F7FC"/>
                </a:solidFill>
                <a:latin typeface="Aptos"/>
              </a:defRPr>
            </a:pPr>
            <a:r>
              <a:t>Transfers RGB pixels to GPU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6752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8A7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965960"/>
            <a:ext cx="2423160" cy="1828800"/>
          </a:xfrm>
          <a:prstGeom prst="roundRect">
            <a:avLst/>
          </a:prstGeom>
          <a:solidFill>
            <a:srgbClr val="172236"/>
          </a:solidFill>
          <a:ln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BEB0"/>
                </a:solidFill>
                <a:latin typeface="Aptos"/>
              </a:defRPr>
            </a:pPr>
            <a:r>
              <a:t>KERNEL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4F7FC"/>
                </a:solidFill>
                <a:latin typeface="Aptos"/>
              </a:defRPr>
            </a:pPr>
            <a:r>
              <a:t>CUDA threads compute grayscale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606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8A7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965960"/>
            <a:ext cx="2423160" cy="1828800"/>
          </a:xfrm>
          <a:prstGeom prst="roundRect">
            <a:avLst/>
          </a:prstGeom>
          <a:solidFill>
            <a:srgbClr val="172236"/>
          </a:solidFill>
          <a:ln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91472" y="22128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BEB0"/>
                </a:solidFill>
                <a:latin typeface="Aptos"/>
              </a:defRPr>
            </a:pPr>
            <a:r>
              <a:t>COPY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4F7FC"/>
                </a:solidFill>
                <a:latin typeface="Aptos"/>
              </a:defRPr>
            </a:pPr>
            <a:r>
              <a:t>Returns output to host for checking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17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4F7FC"/>
                </a:solidFill>
                <a:latin typeface="Aptos"/>
              </a:defRPr>
            </a:pPr>
            <a:r>
              <a:t>Global index: i = blockIdx.x × blockDim.x + threadIdx.x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B9CC"/>
                </a:solidFill>
                <a:latin typeface="Aptos"/>
              </a:defRPr>
            </a:pPr>
            <a:r>
              <a:t>Boundary check: process only when i &lt; 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06 • CUDA C++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Algorithm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Prepare RGB input on the CPU.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Allocate input and output buffers on the GPU; copy RGB data to device memory.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Launch rgbToGrayscale with 256 threads per block.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Each valid thread applies the weighted formula and writes one output value.</a:t>
            </a:r>
          </a:p>
          <a:p>
            <a:pPr>
              <a:spcAft>
                <a:spcPts val="1500"/>
              </a:spcAft>
              <a:defRPr sz="1900">
                <a:solidFill>
                  <a:srgbClr val="F4F7FC"/>
                </a:solidFill>
                <a:latin typeface="Aptos"/>
              </a:defRPr>
            </a:pPr>
            <a:r>
              <a:t>•  Copy output back, compare with CPU reference, then free GPU memory.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07 •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Core CUDA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10515600" cy="4297680"/>
          </a:xfrm>
          <a:prstGeom prst="roundRect">
            <a:avLst/>
          </a:prstGeom>
          <a:solidFill>
            <a:srgbClr val="070C17"/>
          </a:solidFill>
          <a:ln>
            <a:solidFill>
              <a:srgbClr val="30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66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B1EBDB"/>
                </a:solidFill>
                <a:latin typeface="Consolas"/>
              </a:defRPr>
            </a:pPr>
            <a:r>
              <a:t>__global__ void rgbToGrayscale(RGB *input,</a:t>
            </a:r>
            <a:br/>
            <a:r>
              <a:t>                               unsigned char *output, int n) {</a:t>
            </a:r>
            <a:br/>
            <a:r>
              <a:t>    int i = blockIdx.x * blockDim.x + threadIdx.x;</a:t>
            </a:r>
            <a:br/>
            <a:r>
              <a:t>    if (i &lt; n) {</a:t>
            </a:r>
            <a:br/>
            <a:r>
              <a:t>        float gray = 0.299f * input[i].r</a:t>
            </a:r>
            <a:br/>
            <a:r>
              <a:t>                   + 0.587f * input[i].g</a:t>
            </a:r>
            <a:br/>
            <a:r>
              <a:t>                   + 0.114f * input[i].b;</a:t>
            </a:r>
            <a:br/>
            <a:r>
              <a:t>        output[i] = (unsigned char)(gray + 0.5f);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704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AAB9CC"/>
                </a:solidFill>
                <a:latin typeface="Aptos"/>
              </a:defRPr>
            </a:pPr>
            <a:r>
              <a:t>The guard i &lt; n prevents out-of-range threads from accessing invalid pixels.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08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Platform: Google Colab with NVIDIA Tesla T4 GPU.</a:t>
            </a:r>
          </a:p>
          <a:p>
            <a:pPr>
              <a:spcAft>
                <a:spcPts val="15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CUDA compiler reported by nvcc: release 13.0, V13.0.88.</a:t>
            </a:r>
          </a:p>
          <a:p>
            <a:pPr>
              <a:spcAft>
                <a:spcPts val="15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Input sizes tested: 10,000; 100,000; 1,000,000; and 10,000,000 pixels.</a:t>
            </a:r>
          </a:p>
          <a:p>
            <a:pPr>
              <a:spcAft>
                <a:spcPts val="15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Threads per block: 256; grid size: ceil(N / 256).</a:t>
            </a:r>
          </a:p>
          <a:p>
            <a:pPr>
              <a:spcAft>
                <a:spcPts val="1500"/>
              </a:spcAft>
              <a:defRPr sz="1800">
                <a:solidFill>
                  <a:srgbClr val="F4F7FC"/>
                </a:solidFill>
                <a:latin typeface="Aptos"/>
              </a:defRPr>
            </a:pPr>
            <a:r>
              <a:t>•  GPU total time includes host-to-device transfer, kernel execution and device-to-host transfer.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09 •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Measured performance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0020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6BEB0"/>
                          </a:solidFill>
                        </a:defRPr>
                      </a:pPr>
                      <a:r>
                        <a:t>Pixels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6BEB0"/>
                          </a:solidFill>
                        </a:defRPr>
                      </a:pPr>
                      <a:r>
                        <a:t>CPU time (ms)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6BEB0"/>
                          </a:solidFill>
                        </a:defRPr>
                      </a:pPr>
                      <a:r>
                        <a:t>GPU total (ms)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26BEB0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F37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0.0569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0.2060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0.28×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0.3690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0.2869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1.29×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2.7814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1.6536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1.68×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10,000,000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25.2972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13.5599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4F7FC"/>
                          </a:solidFill>
                        </a:defRPr>
                      </a:pPr>
                      <a:r>
                        <a:t>1.87×</a:t>
                      </a:r>
                    </a:p>
                  </a:txBody>
                  <a:tcPr>
                    <a:solidFill>
                      <a:srgbClr val="17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BEB0"/>
                </a:solidFill>
                <a:latin typeface="Aptos"/>
              </a:defRPr>
            </a:pPr>
            <a:r>
              <a:t>Correctness: 0 mismatched pixels in all four benchmark runs (PASS).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AB9CC"/>
                </a:solidFill>
                <a:latin typeface="Aptos"/>
              </a:defRPr>
            </a:pPr>
            <a:r>
              <a:t>Speedup = CPU time ÷ GPU end-to-end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10 •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CPU vs GPU execution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CPU_vs_GPU_execu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BEB0"/>
                </a:solidFill>
                <a:latin typeface="Aptos"/>
              </a:defRPr>
            </a:pPr>
            <a: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317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At 10K pixels, GPU overhead dominates. Larger workloads benefit more from parallel processing.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7091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B9CC"/>
                </a:solidFill>
                <a:latin typeface="Aptos"/>
              </a:defRPr>
            </a:pPr>
            <a:r>
              <a:t>Times are from your Colab runs.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11 •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How workload size affects speedup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GPU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7680960" cy="43205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7824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BEB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33172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4F7FC"/>
                </a:solidFill>
                <a:latin typeface="Aptos"/>
              </a:defRPr>
            </a:pPr>
            <a:r>
              <a:t>The measured end-to-end speedup rises to 1.87× at 10M pixels. GPU benefit depends on input size and overhead.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48920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B9CC"/>
                </a:solidFill>
                <a:latin typeface="Aptos"/>
              </a:defRPr>
            </a:pPr>
            <a:r>
              <a:t>Repeated runs may vary.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12 •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Implemented RGB-to-grayscale conversion using CUDA C++.</a:t>
            </a:r>
          </a:p>
          <a:p>
            <a:pPr>
              <a:spcAft>
                <a:spcPts val="15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Verified GPU output against CPU output: zero mismatches in all tested sizes.</a:t>
            </a:r>
          </a:p>
          <a:p>
            <a:pPr>
              <a:spcAft>
                <a:spcPts val="15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Observed 1.87× end-to-end speedup for 10 million pixels in the recorded run.</a:t>
            </a:r>
          </a:p>
          <a:p>
            <a:pPr>
              <a:spcAft>
                <a:spcPts val="1500"/>
              </a:spcAft>
              <a:defRPr sz="2000">
                <a:solidFill>
                  <a:srgbClr val="F4F7FC"/>
                </a:solidFill>
                <a:latin typeface="Aptos"/>
              </a:defRPr>
            </a:pPr>
            <a:r>
              <a:t>•  Future work: process actual image files, repeat trials and report medians, and test more block sizes.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6B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6BEB0"/>
                </a:solidFill>
                <a:latin typeface="Aptos"/>
              </a:defRPr>
            </a:pPr>
            <a:r>
              <a:t>13 •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4F7FC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789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AAB9CC"/>
                </a:solidFill>
                <a:latin typeface="Aptos"/>
              </a:defRPr>
            </a:pPr>
            <a:r>
              <a:t>PARALLEL COMPUTING • CCA-1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AB9C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NVIDIA, “CUDA C++ Programming Guide.” https://docs.nvidia.com/cuda/cuda-c-programming-guide/</a:t>
            </a:r>
          </a:p>
          <a:p>
            <a:pPr>
              <a:spcAft>
                <a:spcPts val="15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NVIDIA, “CUDA Runtime API.” https://docs.nvidia.com/cuda/cuda-runtime-api/</a:t>
            </a:r>
          </a:p>
          <a:p>
            <a:pPr>
              <a:spcAft>
                <a:spcPts val="15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NVIDIA, “CUDA Toolkit Documentation.” https://docs.nvidia.com/cuda/</a:t>
            </a:r>
          </a:p>
          <a:p>
            <a:pPr>
              <a:spcAft>
                <a:spcPts val="15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R. C. Gonzalez and R. E. Woods, Digital Image Processing, 4th ed., Pearson, 2018.</a:t>
            </a:r>
          </a:p>
          <a:p>
            <a:pPr>
              <a:spcAft>
                <a:spcPts val="1500"/>
              </a:spcAft>
              <a:defRPr sz="1600">
                <a:solidFill>
                  <a:srgbClr val="F4F7FC"/>
                </a:solidFill>
                <a:latin typeface="Aptos"/>
              </a:defRPr>
            </a:pPr>
            <a:r>
              <a:t>•  Course-provided CUDA case-study handout: Case Study 2, RGB/colour-to-grayscale image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989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Kshama Hiremath</dc:creator>
  <cp:keywords/>
  <dc:description>generated using python-pptx</dc:description>
  <cp:lastModifiedBy>Kshama Hiremath</cp:lastModifiedBy>
  <cp:revision>2</cp:revision>
  <dcterms:created xsi:type="dcterms:W3CDTF">2013-01-27T09:14:16Z</dcterms:created>
  <dcterms:modified xsi:type="dcterms:W3CDTF">2026-10-09T07:15:46Z</dcterms:modified>
  <cp:category/>
</cp:coreProperties>
</file>